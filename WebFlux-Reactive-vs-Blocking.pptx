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3200400"/>
            <a:ext cx="3200400" cy="3200400"/>
          </a:xfrm>
          <a:prstGeom prst="ellipse">
            <a:avLst/>
          </a:prstGeom>
          <a:solidFill>
            <a:srgbClr val="1C7293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Java WebFlux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Programming with Project Reactor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 — A Deep Dive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Konrad Malewski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8016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80160" y="144475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fundamental difference?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764792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280160" y="17647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Models Compared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97510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classic and reactive handle concurrency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80160" y="2295144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vs WebFlux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250545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when to choose which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825496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25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80160" y="2825496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 Core: Mono &amp; Flux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303580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Signals, backpressure, operators, schedulers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355848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355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80160" y="335584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comparison — blocking vs reactive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886200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28016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Debugging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80160" y="409651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StepVerifier, BlockHound, checkpoint()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416552"/>
            <a:ext cx="365760" cy="36576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4416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280160" y="4416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Trade-offs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80160" y="462686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Bottlenecks, error handling, maintenance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32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Fundamentals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vs Non-Blocking I/O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32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typical application does?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14300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97280" y="11430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received on rest controller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0" y="1143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43560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356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parsed and validated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12080" y="14356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7282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172821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is authenticated via some IDM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0" y="17282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0208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02082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to DB are made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20208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23134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231343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processed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231343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260604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2606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to other system is made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6060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289864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28986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processed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12080" y="28986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(cpu)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" y="319125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31912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result is being written to db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19125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3483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34838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being returned to requestor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2080" y="348386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(i/o)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38862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1005840" y="38862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920240" y="3886200"/>
            <a:ext cx="228600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2194560" y="38862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/ Waiting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3152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23444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123444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73736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9" name="Text 37"/>
          <p:cNvSpPr/>
          <p:nvPr/>
        </p:nvSpPr>
        <p:spPr>
          <a:xfrm>
            <a:off x="173736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24028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1" name="Text 39"/>
          <p:cNvSpPr/>
          <p:nvPr/>
        </p:nvSpPr>
        <p:spPr>
          <a:xfrm>
            <a:off x="224028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74320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3" name="Text 41"/>
          <p:cNvSpPr/>
          <p:nvPr/>
        </p:nvSpPr>
        <p:spPr>
          <a:xfrm>
            <a:off x="274320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4612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5" name="Text 43"/>
          <p:cNvSpPr/>
          <p:nvPr/>
        </p:nvSpPr>
        <p:spPr>
          <a:xfrm>
            <a:off x="324612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749040" y="4206240"/>
            <a:ext cx="484632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374904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25196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7"/>
          <p:cNvSpPr/>
          <p:nvPr/>
        </p:nvSpPr>
        <p:spPr>
          <a:xfrm>
            <a:off x="425196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4206240"/>
            <a:ext cx="484632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1" name="Text 49"/>
          <p:cNvSpPr/>
          <p:nvPr/>
        </p:nvSpPr>
        <p:spPr>
          <a:xfrm>
            <a:off x="4754880" y="4206240"/>
            <a:ext cx="484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31520" y="4709160"/>
            <a:ext cx="45262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46177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32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Blocking I/O — The Classic Approach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Thread-per-request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incoming request occupies one OS thread for its entire duration. While waiting for database, file I/O, or HTTP calls, the thread sits idle — blocked.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Tomcat default: 200 threads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#201 waits in a queue.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32120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5532120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1a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833872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5833872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135624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6135624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3a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437376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6437376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739128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6739128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5a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7040880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6a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342632" y="12344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7342632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7a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7644384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7644384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7946136" y="12344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946136" y="12344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9a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572000" y="18745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532120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1b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833872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5833872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2b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135624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6135624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3b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437376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6437376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4b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739128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6" name="Text 34"/>
          <p:cNvSpPr/>
          <p:nvPr/>
        </p:nvSpPr>
        <p:spPr>
          <a:xfrm>
            <a:off x="6739128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5b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040880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8" name="Text 36"/>
          <p:cNvSpPr/>
          <p:nvPr/>
        </p:nvSpPr>
        <p:spPr>
          <a:xfrm>
            <a:off x="7040880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6b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7342632" y="19202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7342632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7b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7644384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2" name="Text 40"/>
          <p:cNvSpPr/>
          <p:nvPr/>
        </p:nvSpPr>
        <p:spPr>
          <a:xfrm>
            <a:off x="7644384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8b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7946136" y="19202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4" name="Text 42"/>
          <p:cNvSpPr/>
          <p:nvPr/>
        </p:nvSpPr>
        <p:spPr>
          <a:xfrm>
            <a:off x="7946136" y="19202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9b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0" y="2560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Thread-3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532120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7" name="Text 45"/>
          <p:cNvSpPr/>
          <p:nvPr/>
        </p:nvSpPr>
        <p:spPr>
          <a:xfrm>
            <a:off x="5532120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1c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833872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9" name="Text 47"/>
          <p:cNvSpPr/>
          <p:nvPr/>
        </p:nvSpPr>
        <p:spPr>
          <a:xfrm>
            <a:off x="5833872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2c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6135624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1" name="Text 49"/>
          <p:cNvSpPr/>
          <p:nvPr/>
        </p:nvSpPr>
        <p:spPr>
          <a:xfrm>
            <a:off x="6135624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3c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6437376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3" name="Text 51"/>
          <p:cNvSpPr/>
          <p:nvPr/>
        </p:nvSpPr>
        <p:spPr>
          <a:xfrm>
            <a:off x="6437376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4c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6739128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739128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5c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40880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7" name="Text 55"/>
          <p:cNvSpPr/>
          <p:nvPr/>
        </p:nvSpPr>
        <p:spPr>
          <a:xfrm>
            <a:off x="7040880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6c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7342632" y="26060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9" name="Text 57"/>
          <p:cNvSpPr/>
          <p:nvPr/>
        </p:nvSpPr>
        <p:spPr>
          <a:xfrm>
            <a:off x="7342632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7c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644384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1" name="Text 59"/>
          <p:cNvSpPr/>
          <p:nvPr/>
        </p:nvSpPr>
        <p:spPr>
          <a:xfrm>
            <a:off x="7644384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8c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7946136" y="26060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3" name="Text 61"/>
          <p:cNvSpPr/>
          <p:nvPr/>
        </p:nvSpPr>
        <p:spPr>
          <a:xfrm>
            <a:off x="7946136" y="26060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9c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2461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Thread-N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32120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6" name="Text 64"/>
          <p:cNvSpPr/>
          <p:nvPr/>
        </p:nvSpPr>
        <p:spPr>
          <a:xfrm>
            <a:off x="5532120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1d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5833872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8" name="Text 66"/>
          <p:cNvSpPr/>
          <p:nvPr/>
        </p:nvSpPr>
        <p:spPr>
          <a:xfrm>
            <a:off x="5833872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135624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0" name="Text 68"/>
          <p:cNvSpPr/>
          <p:nvPr/>
        </p:nvSpPr>
        <p:spPr>
          <a:xfrm>
            <a:off x="6135624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6437376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2" name="Text 70"/>
          <p:cNvSpPr/>
          <p:nvPr/>
        </p:nvSpPr>
        <p:spPr>
          <a:xfrm>
            <a:off x="6437376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4d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739128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4" name="Text 72"/>
          <p:cNvSpPr/>
          <p:nvPr/>
        </p:nvSpPr>
        <p:spPr>
          <a:xfrm>
            <a:off x="6739128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5d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7040880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Text 74"/>
          <p:cNvSpPr/>
          <p:nvPr/>
        </p:nvSpPr>
        <p:spPr>
          <a:xfrm>
            <a:off x="7040880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6d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7342632" y="3291840"/>
            <a:ext cx="283464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8" name="Text 76"/>
          <p:cNvSpPr/>
          <p:nvPr/>
        </p:nvSpPr>
        <p:spPr>
          <a:xfrm>
            <a:off x="7342632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7d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7644384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0" name="Text 78"/>
          <p:cNvSpPr/>
          <p:nvPr/>
        </p:nvSpPr>
        <p:spPr>
          <a:xfrm>
            <a:off x="7644384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8d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7946136" y="3291840"/>
            <a:ext cx="283464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2" name="Text 80"/>
          <p:cNvSpPr/>
          <p:nvPr/>
        </p:nvSpPr>
        <p:spPr>
          <a:xfrm>
            <a:off x="7946136" y="3291840"/>
            <a:ext cx="283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5532120" y="41148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84" name="Text 82"/>
          <p:cNvSpPr/>
          <p:nvPr/>
        </p:nvSpPr>
        <p:spPr>
          <a:xfrm>
            <a:off x="5806440" y="41148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766560" y="4114800"/>
            <a:ext cx="228600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6" name="Text 84"/>
          <p:cNvSpPr/>
          <p:nvPr/>
        </p:nvSpPr>
        <p:spPr>
          <a:xfrm>
            <a:off x="7040880" y="411480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/ Waiting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32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Non-Blocking I/O — The Reactive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Event-loop model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pool of threads (typically CPU-core count) handles all requests. When I/O starts, the thread is released back — no waiting. A callback resumes processing when data arrives.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Netty default: ~4 event-loop threads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handle thousands of concurrent connections.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3212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598932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Shape 9"/>
          <p:cNvSpPr/>
          <p:nvPr/>
        </p:nvSpPr>
        <p:spPr>
          <a:xfrm>
            <a:off x="672084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99516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12344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726680" y="12344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8745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3212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Shape 15"/>
          <p:cNvSpPr/>
          <p:nvPr/>
        </p:nvSpPr>
        <p:spPr>
          <a:xfrm>
            <a:off x="598932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084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99516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Shape 19"/>
          <p:cNvSpPr/>
          <p:nvPr/>
        </p:nvSpPr>
        <p:spPr>
          <a:xfrm>
            <a:off x="7452360" y="19202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7726680" y="19202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0" y="25603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3212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5" name="Shape 23"/>
          <p:cNvSpPr/>
          <p:nvPr/>
        </p:nvSpPr>
        <p:spPr>
          <a:xfrm>
            <a:off x="598932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26364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084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99516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Shape 27"/>
          <p:cNvSpPr/>
          <p:nvPr/>
        </p:nvSpPr>
        <p:spPr>
          <a:xfrm>
            <a:off x="7452360" y="26060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726680" y="26060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0" y="324612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EL-4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53212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932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26364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33"/>
          <p:cNvSpPr/>
          <p:nvPr/>
        </p:nvSpPr>
        <p:spPr>
          <a:xfrm>
            <a:off x="672084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99516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7" name="Shape 35"/>
          <p:cNvSpPr/>
          <p:nvPr/>
        </p:nvSpPr>
        <p:spPr>
          <a:xfrm>
            <a:off x="7452360" y="3291840"/>
            <a:ext cx="274320" cy="32004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726680" y="3291840"/>
            <a:ext cx="4572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9" name="Shape 37"/>
          <p:cNvSpPr/>
          <p:nvPr/>
        </p:nvSpPr>
        <p:spPr>
          <a:xfrm>
            <a:off x="5532120" y="4114800"/>
            <a:ext cx="228600" cy="1828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5806440" y="41148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858000" y="4114800"/>
            <a:ext cx="228600" cy="182880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132320" y="4114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Released (I/O pending)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32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How Reactive Looks in Practice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event-loop thread juggling 4 requests — no thread ever waits idle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645920" y="4206240"/>
            <a:ext cx="685800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0ms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560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100ms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703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200ms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846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300ms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89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400ms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32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500ms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8275320" y="42519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600ms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49640" y="409651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→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1170432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170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11704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/users/1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45920" y="1161288"/>
            <a:ext cx="54864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4560" y="1161288"/>
            <a:ext cx="322326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417820" y="1161288"/>
            <a:ext cx="685800" cy="3200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1783080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1783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17830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/orders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988820" y="1773936"/>
            <a:ext cx="548640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3" name="Shape 21"/>
          <p:cNvSpPr/>
          <p:nvPr/>
        </p:nvSpPr>
        <p:spPr>
          <a:xfrm>
            <a:off x="2537460" y="1773936"/>
            <a:ext cx="3909060" cy="320040"/>
          </a:xfrm>
          <a:prstGeom prst="rect">
            <a:avLst/>
          </a:prstGeom>
          <a:solidFill>
            <a:srgbClr val="065A82">
              <a:alpha val="20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46520" y="1773936"/>
            <a:ext cx="685800" cy="320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2395728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23957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/payment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331720" y="2386584"/>
            <a:ext cx="68580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Shape 27"/>
          <p:cNvSpPr/>
          <p:nvPr/>
        </p:nvSpPr>
        <p:spPr>
          <a:xfrm>
            <a:off x="3017520" y="2386584"/>
            <a:ext cx="2743200" cy="320040"/>
          </a:xfrm>
          <a:prstGeom prst="rect">
            <a:avLst/>
          </a:prstGeom>
          <a:solidFill>
            <a:srgbClr val="D97706">
              <a:alpha val="20000"/>
            </a:srgbClr>
          </a:solidFill>
          <a:ln w="12700">
            <a:solidFill>
              <a:srgbClr val="D97706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760720" y="2386584"/>
            <a:ext cx="54864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2386584"/>
            <a:ext cx="1508760" cy="320040"/>
          </a:xfrm>
          <a:prstGeom prst="rect">
            <a:avLst/>
          </a:prstGeom>
          <a:solidFill>
            <a:srgbClr val="D97706">
              <a:alpha val="20000"/>
            </a:srgbClr>
          </a:solidFill>
          <a:ln w="12700">
            <a:solidFill>
              <a:srgbClr val="D97706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7818120" y="2386584"/>
            <a:ext cx="48006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7200" y="300837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30083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/products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674620" y="2999232"/>
            <a:ext cx="480060" cy="3200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Shape 35"/>
          <p:cNvSpPr/>
          <p:nvPr/>
        </p:nvSpPr>
        <p:spPr>
          <a:xfrm>
            <a:off x="3154680" y="2999232"/>
            <a:ext cx="1920240" cy="320040"/>
          </a:xfrm>
          <a:prstGeom prst="rect">
            <a:avLst/>
          </a:prstGeom>
          <a:solidFill>
            <a:srgbClr val="7C3AED">
              <a:alpha val="20000"/>
            </a:srgbClr>
          </a:solidFill>
          <a:ln w="12700">
            <a:solidFill>
              <a:srgbClr val="7C3AED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5074920" y="2999232"/>
            <a:ext cx="548640" cy="3200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9" name="Text 37"/>
          <p:cNvSpPr/>
          <p:nvPr/>
        </p:nvSpPr>
        <p:spPr>
          <a:xfrm>
            <a:off x="2103120" y="14996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released ↑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143500" y="149961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callback resumes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645920" y="3794760"/>
            <a:ext cx="274320" cy="16459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1965960" y="37947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work (thread busy)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657600" y="3794760"/>
            <a:ext cx="274320" cy="164592"/>
          </a:xfrm>
          <a:prstGeom prst="rect">
            <a:avLst/>
          </a:prstGeom>
          <a:solidFill>
            <a:srgbClr val="065A82">
              <a:alpha val="20000"/>
            </a:srgbClr>
          </a:solidFill>
          <a:ln w="12700">
            <a:solidFill>
              <a:srgbClr val="065A82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3977640" y="379476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I/O wait (thread free for other work)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loop picks up whichever request has data ready — one thread serves all four requests!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32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Concurrent Requests — What Happens?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(Spring MVC)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threads allocated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idle while waiting for DB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MB RAM just for stacks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#201 → queued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~200 req/batch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 (WebFlux)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event-loop threads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released during I/O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~16 MB RAM for threads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200 handled concurrently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~200 req/parallel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32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MVC vs Spring WebFlux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Tomcat / Jetty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3474720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API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347472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889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@Controller + @RequestMapping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3474720" cy="4114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RestTemplate / JDBC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Stack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2801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Netty / Undertow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78308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2286000"/>
            <a:ext cx="347472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WebFlux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2788920"/>
            <a:ext cx="347472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7889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@Controller + RouterFunction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937760" y="3291840"/>
            <a:ext cx="3474720" cy="4114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91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WebClient / R2DBC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Stack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share @Controller annotations — migration can be incremental!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32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Project Reactor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Mono, Flux &amp; Operators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 &amp; Flux — The Building Blocks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Mono&lt;T&gt;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or 1 element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338328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Mono&lt;User&gt; user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userRepo.findById(id);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Flux&lt;T&gt;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16002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N elements (stream)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0" y="1965960"/>
            <a:ext cx="338328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66360" y="2057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Flux&lt;Product&gt; products =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productRepo.findAll();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2918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until you subscribe!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 are lazy — the pipeline is only a description of computation. Data flows when a subscriber signals demand (backpressure).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560320" y="11430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synchronously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11430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flux.map(s -&gt; s.toUpperCase())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flatMap()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6459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transform (Publisher)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0" y="164592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flux.flatMap(id -&gt; fetchById(id))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4884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1488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matching elements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1488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flux.filter(u -&gt; u.isActive())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5176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560320" y="265176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sources element-wise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26517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Mono.zip(userMono, orderMono)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82296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15468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switchIfEmpty()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60320" y="3154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when empty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20640" y="31546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mono.switchIfEmpty(defaultMono)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8229600" cy="438912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6576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onErrorResume()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6576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errors gracefully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20640" y="36576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mono.onErrorResume(e -&gt; fallback())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In IntelliJ, Ctrl+Q on any operator shows its Javadoc with a marble diagram!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Marble Diagrams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7315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51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Flux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18872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18872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303520" y="118872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011680"/>
            <a:ext cx="365760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flatMap( x -&gt; asyncOp(x) 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926080"/>
            <a:ext cx="7315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Flux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03120" y="274320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17520" y="2743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30175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31920" y="2743200"/>
            <a:ext cx="365760" cy="36576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39319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74320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760720" y="274320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675120" y="2743200"/>
            <a:ext cx="365760" cy="3657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67512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flatMap interleaves results from async operations — order is NOT guaranteed. Use concatMap for ordered processing.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Reactor Docs in IntelliJ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0" y="1188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Documentation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5087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operator and press Ctrl+Q — shows Javadoc with marble diagram inline. Essential for understanding operator behavior.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860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Info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4231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arguments an operator accepts while typing. Reactor's overloads can be confusing — this helps pick the right one.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175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017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B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Declaration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337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into Reactor source code to see default implementations. Great for understanding schedulers and threading.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93192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931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286000" y="3931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Definition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Peek at the operator's source without leaving your current file.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Streams Specification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org.reactivestreams — 4 interfaces, the foundation of all reactive libraries in Java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4300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Publisher&lt;T&gt;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subscribe(Subscriber&lt;? super T&gt; 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1920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data. Emits items to Subscribers on demand. Mono and Flux implement this interface.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411480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Subscriber&lt;T&gt;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onSubscribe | onNext | onError | onComplete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00600" y="19202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items from a Publisher. Defines 4 callback methods for the full lifecycle of a stream.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880360"/>
            <a:ext cx="411480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880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request(long n)  |  cancel()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 between Publisher and Subscriber. Controls backpressure — subscriber calls request(n) to signal demand.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880360"/>
            <a:ext cx="411480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880360"/>
            <a:ext cx="4114800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2880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Processor&lt;T,R&gt;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extends Publisher&lt;R&gt; &amp; Subscriber&lt;T&gt;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Publisher and Subscriber — a processing stage. Deprecated in Reactor: use operators or Sinks instead.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" y="46177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  ──subscription──▶  Subscriber  ──request(n)──▶  Publisher  ──onNext(item)──▶  Subscriber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Streams Signals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reactive stream follows a strict lifecycle defined by 4 signals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201168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024128"/>
            <a:ext cx="320040" cy="3200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onSubscribe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connects to Publisher.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a Subscription object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control data flow.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3172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6032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188720"/>
            <a:ext cx="201168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06040" y="1024128"/>
            <a:ext cx="320040" cy="3200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260604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tells Publisher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items it can handle.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request(unbounded) = send all.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75488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0600" y="1024128"/>
            <a:ext cx="320040" cy="3200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onNext(item)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delivers one item.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up to n times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 many as requested).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19202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6949440" y="1188720"/>
            <a:ext cx="201168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49440" y="1188720"/>
            <a:ext cx="2011680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7" name="Shape 25"/>
          <p:cNvSpPr/>
          <p:nvPr/>
        </p:nvSpPr>
        <p:spPr>
          <a:xfrm>
            <a:off x="6995160" y="1024128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6995160" y="1024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949440" y="1188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onComplete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16916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finished successfully.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items will be sent.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Alternative: onError(e).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3429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real Reactor logs (.log() operator):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37490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onSubscribe([Fuseable] MonoFlatMap.FlatMapMain)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request(unbounded)       ← "send me everything"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onNext({"id":1,...})      ← one item delivered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reactor.Mono.FlatMap.1 : | onComplete()              ← stream done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Backpressure — Consumer Controls the 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411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— Push Model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097280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1600200"/>
            <a:ext cx="1097280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→ → →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as fast as it can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must keep up or lose data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OutOfMemoryError, dropped msgs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05840"/>
            <a:ext cx="4114800" cy="4114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005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— Pull Model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00200"/>
            <a:ext cx="1097280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493776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06640" y="1600200"/>
            <a:ext cx="1097280" cy="5486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14813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request(10)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3504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→ 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233172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signals demand: request(n)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at most n items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overflow — consumer is never overwhelmed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Backpressure Strategies in Reactor: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1148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request(unbounded)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17520" y="4114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limit — process all (default for most operators)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3159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request(n)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01752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n items at a time — control memory usage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45171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onBackpressureBuffer()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017520" y="451713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excess items until consumer catches 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71830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onBackpressureDrop()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017520" y="471830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items consumer can't handle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32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 vs Cold Flux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14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Flux  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DVD / on-demand video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subscriber gets its own copy of all data from the beginning. The source re-executes for every subscription.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produced per subscriber.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88920"/>
            <a:ext cx="3749040" cy="12801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880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Cold — each subscriber gets 1,2,3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Flux&lt;Integer&gt; cold = Flux.just(1, 2, 3);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cold.subscribe(i -&gt; log("Sub-A: " + i));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Sub-A: 1, Sub-A: 2, Sub-A: 3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cold.subscribe(i -&gt; log("Sub-B: " + i));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Sub-B: 1, Sub-B: 2, Sub-B: 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Flux  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live TV / radio broadcast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 get items from the moment they subscribe. Late subscribers miss earlier events.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produced regardless of subscribers.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2788920"/>
            <a:ext cx="3749040" cy="12801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83480" y="288036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Hot — late subscriber misses items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Sinks.Many&lt;Integer&gt; sink =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Sinks.many().multicast().onBackpressureBuffer();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Flux&lt;Integer&gt; hot = sink.asFlux();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hot.subscribe(i -&gt; log("Sub-A: " + i));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sink.tryEmitNext(1);  // Sub-A sees 1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hot.subscribe(i -&gt; log("Sub-B: " + i));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sink.tryEmitNext(2);  // Both see 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Cold: Flux.just(), Flux.range(), HTTP requests  |  Hot: Sinks, .share(), .publish(), WebSocket events, UI events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32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Schedulers — Threading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411480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publishOn()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thread for downstream operators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Affects everything AFTER this point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processing pipeline stages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914400"/>
            <a:ext cx="41148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subscribeOn()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thread for the subscription (source)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Affects the ENTIRE chain from source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wrapping blocking calls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Schedulers: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Schedulers.parallel()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31920" y="3383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pool (CPU cores) — CPU-bound work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Schedulers.boundedElastic()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931920" y="3611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pool — blocking I/O offload (JDBC, file I/O)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840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Schedulers.single()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93192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reusable thread — sequential tasks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Schedulers.immediate()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931920" y="4069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thread — no switching (default)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" y="452628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Offload blocking call to elastic thread pool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Mono.fromCallable(() -&gt; legacyJdbcCall())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.subscribeOn(Schedulers.boundedElastic())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.publishOn(Schedulers.parallel())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.map(result -&gt; transform(result));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32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Error Handling Patterns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6012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onErrorReturn(fallback)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 static fallback value on error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389120" y="960120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.onErrorReturn(Product.empty())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664208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64208"/>
            <a:ext cx="64008" cy="5943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onErrorResume(fn)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an alternative publisher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64208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.onErrorResume(e -&gt; cache.get(id))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368296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368296"/>
            <a:ext cx="64008" cy="5943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3682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onErrorMap(fn)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6426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error to a different exception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89120" y="2368296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.onErrorMap(e -&gt; new BizException(e))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072384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072384"/>
            <a:ext cx="64008" cy="5943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retry(n)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346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Resubscribe up to n times on error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072384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.retry(3)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5760" y="3776472"/>
            <a:ext cx="841248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776472"/>
            <a:ext cx="64008" cy="5943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37764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retryWhen(spec)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4050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backoff, jitter, and conditions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776472"/>
            <a:ext cx="4206240" cy="59436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.retryWhen(Retry.backoff(3, Duration.ofSeconds(1)))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Combine strategies — e.g., retryWhen(...).onErrorResume(e -&gt; fallback())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3: Code Examples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Server, Reactive Server, Clients &amp; Timing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Blocking Server — Spring MVC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972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ProductController {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@GetMapping("/api/products/{id}")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Product getProduct(@PathVariable Long 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start = System.nanoTime();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Simulates slow DB call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Thread.sleep(500);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Product p = productRepository.findById(id);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elapsed = System.nanoTime() - start;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log.info("Thread: {} | Time: {}ms",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Thread.currentThread().getName(),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elapsed / 1_000_000);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request blocks a Tomcat thread for 500ms. With 200 threads, max throughput = 400 req/s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Server — Spring WebFlux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97280"/>
            <a:ext cx="7955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ProductController {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@GetMapping("/api/products/{id}")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Mono&lt;Product&gt; getProduct(@PathVariable Long 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long start = System.nanoTime();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Mono.delay(Duration.ofMillis(500))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.then(productRepository.findById(id))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.doOnSuccess(p -&gt;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long elapsed = System.nanoTime() - start;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log.info("Thread: {} | Time: {}ms",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Thread.currentThread().getName(),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elapsed / 1_000_000);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is released during the 500ms delay. 4 threads can handle thousands of concurrent requests!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Server-Sent Events (SSE) Streaming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37160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WebFlux — natural streaming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@GetMapping(value = "/stream",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produces = MediaType.TEXT_EVENT_STREAM_VALUE)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Flux&lt;Product&gt; streamProducts()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productRepository.findAll()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.delayElements(Duration.ofMillis(200));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3383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Blocking — synchronous write to HttpServletResponse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@GetMapping("/stream")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streamProducts(HttpServletResponse resp)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resp.setContentType("text/event-stream");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PrintWriter w = resp.getWriter();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(Product p : productRepository.findAll())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Thread.sleep(200);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w.write("data: " + toJson(p) + "\n\n");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w.flush();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4: 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comparison with real HTTP clients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3931920" cy="411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Server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:8081 (Spring MVC)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371600"/>
            <a:ext cx="3931920" cy="4114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371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Server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18288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:8082 (WebFlux)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926080"/>
            <a:ext cx="3931920" cy="4114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926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Client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RestTemplate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9319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926080"/>
            <a:ext cx="3931920" cy="411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9260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Client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3383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WebClient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steps: 50 → 200 → 500 → 1000 → 2000 concurrent requests. Timing printed to console.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5: Testing Reactive Code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StepVerifier &amp; Virtual Time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StepVerifier — Testing Reactive Streams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7955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Basic verification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StepVerifier.create(userService.findById(1L))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.expectNextMatches(u -&gt; u.getName().equals("John"))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Testing error handling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StepVerifier.create(userService.findById(-1L))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.expectError(NotFoundException.class)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.verify();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 — Mocking the Clock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8229600" cy="1691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3474720"/>
            <a:ext cx="7955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Virtual time — test delays without waiting!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StepVerifier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.withVirtualTime(() -&gt;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Mono.delay(Duration.ofHours(1))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.thenReturn("delayed"))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.thenAwait(Duration.ofHours(1))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.expectNext("delayed")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.verifyComplete();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Runs in milliseconds, not 1 hour!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Debugging Reactive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Cryptic Stack Traces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2801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java.lang.RuntimeException: oops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Flux.map(MyService.java:35)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FluxMap$MapSubscriber.onNext(FluxMap.java:114)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at ... 42 more reactor internal frames ...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WHERE did I subscribe? Which operator failed?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219456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2194560"/>
            <a:ext cx="41148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checkpoint() — per-pipeline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651760"/>
            <a:ext cx="3931920" cy="685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flux.map(this::transform)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.checkpoint("after-transform")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.flatMap(this::save)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.checkpoint("after-save");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assembly info to stack trace at each checkpoint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19456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BlockHound — detect blocking calls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651760"/>
            <a:ext cx="3840480" cy="685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3776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 test or dev startup: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BlockHound.install();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Throws if Thread.sleep(),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JDBC, file I/O etc. runs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 a non-blocking thread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accidental blocking on event loop threads at runtime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Hooks.onOperatorDebug() — global (dev only, perf cost) | ReactorDebugAgent — production-safe via bytecode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D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Bottlenecks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43000"/>
            <a:ext cx="64008" cy="6400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Traces from Hell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1143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stack traces are long and cryptic. Use Hooks.onOperatorDebug() in dev or ReactorDebugAgent in prod.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8928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892808"/>
            <a:ext cx="64008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928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Code Sneaks 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89280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Thread.sleep or JDBC call in a reactive pipeline blocks the event loop. Use BlockHound to detect.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426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642616"/>
            <a:ext cx="64008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4261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Learning Curve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64261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knowledge, backpressure, schedulers — the mental model is fundamentally different from imperative code.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392424"/>
            <a:ext cx="64008" cy="6400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39242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Ecosystem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339242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libraries are reactive. JDBC is blocking — need R2DBC. Some SDKs lack async variants.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42232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4142232"/>
            <a:ext cx="64008" cy="6400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1422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Cost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41422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Debugging, onboarding new devs, code reviews — all harder. Is the performance gain worth it for YOUR use case?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WebFlux?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0F2A1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WebFlux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High-concurrency I/O-bound services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/ real-time data (SSE, WebSocket)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Microservices with many HTTP calls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proxy / aggregation layer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6E8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every millisecond of latency matters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solidFill>
            <a:srgbClr val="2A1520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with MVC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6916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apps with moderate traffic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unfamiliar with reactive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reliance on blocking libs (JDBC)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CPU-bound processing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0D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simplicity &gt; max throughput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 Questions?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32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Resources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Reactor — Reference Guide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projectreactor.io/docs/core/release/reference/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91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operator do I need? (Appendix A)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projectreactor.io/docs/core/release/reference/apdx-operatorChoice.html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WebFlux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22860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docs.spring.io/spring-framework/reference/web/webflux.html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88036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8803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Streams Specification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28803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reactive-streams.org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47472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BlockHound — Detecting Blocking Calls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3474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github.com/reactor/BlockHound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solidFill>
            <a:srgbClr val="0F2A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069080"/>
            <a:ext cx="5486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R2DBC — Reactive Relational Database Connectivity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4069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r2dbc.io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&amp; demo code available at the project repository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32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5A8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WebFlux — Reactive vs Blocking</dc:title>
  <dc:subject>PptxGenJS Presentation</dc:subject>
  <dc:creator>Konrad Malewski</dc:creator>
  <cp:lastModifiedBy>Konrad Malewski</cp:lastModifiedBy>
  <cp:revision>1</cp:revision>
  <dcterms:created xsi:type="dcterms:W3CDTF">2026-05-04T17:01:21Z</dcterms:created>
  <dcterms:modified xsi:type="dcterms:W3CDTF">2026-05-04T17:01:21Z</dcterms:modified>
</cp:coreProperties>
</file>